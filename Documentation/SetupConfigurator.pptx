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71" r:id="rId11"/>
    <p:sldId id="272" r:id="rId12"/>
    <p:sldId id="264" r:id="rId13"/>
    <p:sldId id="265" r:id="rId14"/>
    <p:sldId id="270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85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1F5B8D-2D1C-48C8-9F39-A666C9931942}" type="datetimeFigureOut">
              <a:rPr lang="hu-HU" smtClean="0"/>
              <a:t>2026. 05. 08.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30F54-7C0A-4EEB-8EE9-FC54BAE4D7B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884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0912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1F5F9"/>
                </a:solidFill>
              </a:rPr>
              <a:t>Projekt</a:t>
            </a:r>
            <a:r>
              <a:rPr sz="2800" b="1" dirty="0">
                <a:solidFill>
                  <a:srgbClr val="F1F5F9"/>
                </a:solidFill>
              </a:rPr>
              <a:t> </a:t>
            </a:r>
            <a:r>
              <a:rPr sz="2800" b="1" dirty="0" err="1">
                <a:solidFill>
                  <a:srgbClr val="F1F5F9"/>
                </a:solidFill>
              </a:rPr>
              <a:t>Munka</a:t>
            </a:r>
            <a:endParaRPr sz="2800" b="1" dirty="0">
              <a:solidFill>
                <a:srgbClr val="F1F5F9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1" y="1828800"/>
            <a:ext cx="54042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Projekt: Tervezői Program</a:t>
            </a:r>
            <a:br>
              <a:rPr lang="hu-HU" dirty="0">
                <a:solidFill>
                  <a:schemeClr val="bg1"/>
                </a:solidFill>
              </a:rPr>
            </a:br>
            <a:r>
              <a:rPr lang="hu-HU" dirty="0">
                <a:solidFill>
                  <a:schemeClr val="bg1"/>
                </a:solidFill>
              </a:rPr>
              <a:t>Név: Setup-Configurator</a:t>
            </a:r>
            <a:br>
              <a:rPr lang="hu-HU" dirty="0">
                <a:solidFill>
                  <a:schemeClr val="bg1"/>
                </a:solidFill>
              </a:rPr>
            </a:br>
            <a:br>
              <a:rPr lang="hu-HU" dirty="0">
                <a:solidFill>
                  <a:schemeClr val="bg1"/>
                </a:solidFill>
              </a:rPr>
            </a:br>
            <a:br>
              <a:rPr lang="hu-HU" dirty="0">
                <a:solidFill>
                  <a:schemeClr val="bg1"/>
                </a:solidFill>
              </a:rPr>
            </a:br>
            <a:br>
              <a:rPr lang="hu-HU" dirty="0">
                <a:solidFill>
                  <a:schemeClr val="bg1"/>
                </a:solidFill>
              </a:rPr>
            </a:br>
            <a:br>
              <a:rPr lang="hu-HU" dirty="0">
                <a:solidFill>
                  <a:schemeClr val="bg1"/>
                </a:solidFill>
              </a:rPr>
            </a:br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Készítette: Egri Roland, Hazafi Levente,Kovács Norbert</a:t>
            </a:r>
          </a:p>
          <a:p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C0E00B-F372-4320-AA94-F7BE2C3E6591}"/>
              </a:ext>
            </a:extLst>
          </p:cNvPr>
          <p:cNvSpPr/>
          <p:nvPr/>
        </p:nvSpPr>
        <p:spPr>
          <a:xfrm>
            <a:off x="5676744" y="1976224"/>
            <a:ext cx="2369975" cy="2321456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B31A3A-2CBF-4CD5-93EB-5A6508C773FA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35430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chemeClr val="bg1"/>
                </a:solidFill>
              </a:rPr>
              <a:t>Probléma és megoldás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20577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chemeClr val="bg1">
                    <a:lumMod val="65000"/>
                  </a:schemeClr>
                </a:solidFill>
              </a:rPr>
              <a:t>SETUP Configurator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B92DCF40-F2F0-40CA-88F9-F6739A41D9FA}"/>
              </a:ext>
            </a:extLst>
          </p:cNvPr>
          <p:cNvSpPr txBox="1"/>
          <p:nvPr/>
        </p:nvSpPr>
        <p:spPr>
          <a:xfrm>
            <a:off x="914401" y="1733784"/>
            <a:ext cx="1037491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Probléma:</a:t>
            </a:r>
            <a:endParaRPr lang="hu-HU" sz="1800" b="0" i="0" u="none" strike="noStrike" kern="1200" cap="none" spc="0" baseline="0" dirty="0">
              <a:solidFill>
                <a:schemeClr val="bg1"/>
              </a:solidFill>
              <a:uFillTx/>
              <a:cs typeface="Times New Roman" pitchFamily="18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DE724FF4-DD62-4C88-9839-3898043B8ABB}"/>
              </a:ext>
            </a:extLst>
          </p:cNvPr>
          <p:cNvSpPr txBox="1"/>
          <p:nvPr/>
        </p:nvSpPr>
        <p:spPr>
          <a:xfrm>
            <a:off x="1097282" y="2097755"/>
            <a:ext cx="1037491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 Nincs egységes tervezői program.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9086131F-495A-4876-AF94-688A90B09D6C}"/>
              </a:ext>
            </a:extLst>
          </p:cNvPr>
          <p:cNvSpPr txBox="1"/>
          <p:nvPr/>
        </p:nvSpPr>
        <p:spPr>
          <a:xfrm>
            <a:off x="1097281" y="2411267"/>
            <a:ext cx="1037491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 Nem értenek hozzá.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0ED40CF9-82FB-4D73-8C11-DB7BA6BF800B}"/>
              </a:ext>
            </a:extLst>
          </p:cNvPr>
          <p:cNvSpPr txBox="1"/>
          <p:nvPr/>
        </p:nvSpPr>
        <p:spPr>
          <a:xfrm>
            <a:off x="914400" y="2812717"/>
            <a:ext cx="1037491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Megoldás:</a:t>
            </a:r>
            <a:endParaRPr lang="hu-HU" sz="1800" b="0" i="0" u="none" strike="noStrike" kern="1200" cap="none" spc="0" baseline="0" dirty="0">
              <a:solidFill>
                <a:schemeClr val="bg1"/>
              </a:solidFill>
              <a:uFillTx/>
              <a:cs typeface="Times New Roman" pitchFamily="18"/>
            </a:endParaRP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45033DBC-8043-4FC1-B151-8C818FD46C8B}"/>
              </a:ext>
            </a:extLst>
          </p:cNvPr>
          <p:cNvSpPr txBox="1"/>
          <p:nvPr/>
        </p:nvSpPr>
        <p:spPr>
          <a:xfrm>
            <a:off x="1097280" y="3181124"/>
            <a:ext cx="1037491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 Tervkészítő és Összerakó.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8703D60B-B78F-4C4D-8F4C-A0FD6E006B66}"/>
              </a:ext>
            </a:extLst>
          </p:cNvPr>
          <p:cNvSpPr txBox="1"/>
          <p:nvPr/>
        </p:nvSpPr>
        <p:spPr>
          <a:xfrm>
            <a:off x="1097282" y="3460647"/>
            <a:ext cx="1037491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 A beépített AI.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A182A-FAEB-4498-8F6C-B0C8CEB62A02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1.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30802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hu-HU" sz="2800" b="1" dirty="0">
                <a:solidFill>
                  <a:srgbClr val="F1F5F9"/>
                </a:solidFill>
              </a:rPr>
              <a:t>M</a:t>
            </a:r>
            <a:r>
              <a:rPr sz="2800" b="1" dirty="0">
                <a:solidFill>
                  <a:srgbClr val="F1F5F9"/>
                </a:solidFill>
              </a:rPr>
              <a:t>it </a:t>
            </a:r>
            <a:r>
              <a:rPr sz="2800" b="1" dirty="0" err="1">
                <a:solidFill>
                  <a:srgbClr val="F1F5F9"/>
                </a:solidFill>
              </a:rPr>
              <a:t>tud</a:t>
            </a:r>
            <a:r>
              <a:rPr lang="hu-HU" sz="2800" b="1" dirty="0">
                <a:solidFill>
                  <a:srgbClr val="F1F5F9"/>
                </a:solidFill>
              </a:rPr>
              <a:t> a program</a:t>
            </a:r>
            <a:r>
              <a:rPr sz="2800" b="1" dirty="0">
                <a:solidFill>
                  <a:srgbClr val="F1F5F9"/>
                </a:solidFill>
              </a:rPr>
              <a:t>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1" y="1748375"/>
            <a:ext cx="3525324" cy="25853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Mit tud ?: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 Eszközök keresése.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 Eszköz információk leírása.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 Eszközöket tud a felhasználó 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összeállítani.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 Tervezni tud a felhazsnáló.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 Az eszközeid összértékét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tudod megnézni.</a:t>
            </a:r>
          </a:p>
          <a:p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dirty="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C1CDD-E4B9-4774-8B80-CAEED26C26D3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2.</a:t>
            </a:r>
          </a:p>
        </p:txBody>
      </p:sp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Architektúra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79"/>
            <a:ext cx="3635207" cy="4491757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5982" y="1707502"/>
            <a:ext cx="314628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Frontend: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-Angular-t használunk 	html, typescript és css-t 	kombinálva.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Backend: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-A Backend szerver egy 	Nodejs Server ez köti össze 	az adatbázist a frontend 	szerverrel vagyis az 	Angularral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Database: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-Az adatbázisunk egy 	online PostrgeSQL 	adatbázis a neve 	supabase.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1B79793-A10B-4B71-9593-C788FBE70D84}"/>
              </a:ext>
            </a:extLst>
          </p:cNvPr>
          <p:cNvSpPr/>
          <p:nvPr/>
        </p:nvSpPr>
        <p:spPr>
          <a:xfrm>
            <a:off x="5143033" y="959187"/>
            <a:ext cx="3635207" cy="5285792"/>
          </a:xfrm>
          <a:prstGeom prst="roundRect">
            <a:avLst>
              <a:gd name="adj" fmla="val 1522"/>
            </a:avLst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DCE3E-11B3-4117-8D37-DD14190E01D5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3.</a:t>
            </a: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2188" y="1554480"/>
            <a:ext cx="4101739" cy="30175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7219" y="1763486"/>
            <a:ext cx="494709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Server: -Nodejs szerver 20-as verziót 				használunk.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</a:t>
            </a:r>
            <a:r>
              <a:rPr lang="hu-HU" sz="1800" b="0" i="0" u="none" strike="noStrike" kern="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 </a:t>
            </a: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-Api végpontokkal kommunikál a 		frontend keretrendszerrel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 -Az authentikációt, a JWT tokenek 		segítségével oldottuk meg.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AI:</a:t>
            </a:r>
            <a:endParaRPr lang="hu-HU" sz="1800" b="0" i="0" u="none" strike="noStrike" kern="0" cap="none" spc="0" baseline="0" dirty="0">
              <a:solidFill>
                <a:schemeClr val="bg1"/>
              </a:solidFill>
              <a:uFillTx/>
              <a:cs typeface="Times New Roman" pitchFamily="18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 -Az AI egy</a:t>
            </a:r>
            <a:r>
              <a:rPr lang="hu-HU" sz="1800" b="0" i="0" u="none" strike="noStrike" kern="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 </a:t>
            </a: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Gemini-3-flash 				ingyenes AI nyelvi modell</a:t>
            </a:r>
            <a:r>
              <a:rPr lang="hu-HU" sz="1800" b="0" i="0" u="none" strike="noStrike" kern="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.</a:t>
            </a:r>
            <a:endParaRPr lang="hu-HU" sz="1800" b="0" i="0" u="none" strike="noStrike" kern="1200" cap="none" spc="0" baseline="0" dirty="0">
              <a:solidFill>
                <a:schemeClr val="bg1"/>
              </a:solidFill>
              <a:uFillTx/>
              <a:cs typeface="Times New Roman" pitchFamily="1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18FD05-6AA2-439D-8A52-CA1DA3EF5541}"/>
              </a:ext>
            </a:extLst>
          </p:cNvPr>
          <p:cNvSpPr/>
          <p:nvPr/>
        </p:nvSpPr>
        <p:spPr>
          <a:xfrm>
            <a:off x="5068387" y="744583"/>
            <a:ext cx="2183363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3D2494-38F3-4610-A07C-D0FDCEF37C5E}"/>
              </a:ext>
            </a:extLst>
          </p:cNvPr>
          <p:cNvSpPr/>
          <p:nvPr/>
        </p:nvSpPr>
        <p:spPr>
          <a:xfrm>
            <a:off x="5068388" y="4557815"/>
            <a:ext cx="2183363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BA0DFE-15B5-4B94-AD80-77EA61A2015E}"/>
              </a:ext>
            </a:extLst>
          </p:cNvPr>
          <p:cNvSpPr/>
          <p:nvPr/>
        </p:nvSpPr>
        <p:spPr>
          <a:xfrm>
            <a:off x="6834984" y="2606040"/>
            <a:ext cx="2183363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E2B7F57-F5DD-4BA4-B08B-9988D0077E2A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16200000" flipH="1">
            <a:off x="6569839" y="1249212"/>
            <a:ext cx="947057" cy="176659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B99EC6A-505F-402D-9EBB-B98374166172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rot="5400000" flipH="1" flipV="1">
            <a:off x="6524681" y="3155830"/>
            <a:ext cx="1037375" cy="176659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07C605-D4B6-4416-815F-CEB97898E028}"/>
              </a:ext>
            </a:extLst>
          </p:cNvPr>
          <p:cNvSpPr txBox="1"/>
          <p:nvPr/>
        </p:nvSpPr>
        <p:spPr>
          <a:xfrm>
            <a:off x="7150979" y="2871481"/>
            <a:ext cx="186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NodeJs Server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45DFF61-783D-4920-96B5-22D5F237B759}"/>
              </a:ext>
            </a:extLst>
          </p:cNvPr>
          <p:cNvSpPr txBox="1"/>
          <p:nvPr/>
        </p:nvSpPr>
        <p:spPr>
          <a:xfrm>
            <a:off x="5135878" y="1007090"/>
            <a:ext cx="2183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Supabase Adatbázis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963809-C9A8-4130-AFAF-B8E01FAA274E}"/>
              </a:ext>
            </a:extLst>
          </p:cNvPr>
          <p:cNvSpPr txBox="1"/>
          <p:nvPr/>
        </p:nvSpPr>
        <p:spPr>
          <a:xfrm>
            <a:off x="5972211" y="4790120"/>
            <a:ext cx="186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AI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E03BA5-9188-44A8-89BA-5B65A787415C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4.</a:t>
            </a:r>
          </a:p>
        </p:txBody>
      </p:sp>
    </p:spTree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1020CEE-290D-4DC1-837E-57C129B1E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976" y="158412"/>
            <a:ext cx="4409645" cy="2132053"/>
          </a:xfrm>
          <a:prstGeom prst="rect">
            <a:avLst/>
          </a:prstGeom>
        </p:spPr>
      </p:pic>
      <p:pic>
        <p:nvPicPr>
          <p:cNvPr id="7" name="Kép 7">
            <a:extLst>
              <a:ext uri="{FF2B5EF4-FFF2-40B4-BE49-F238E27FC236}">
                <a16:creationId xmlns:a16="http://schemas.microsoft.com/office/drawing/2014/main" id="{4497FDE6-93CE-4B0B-951B-070FCB30C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338" y="4375165"/>
            <a:ext cx="4669283" cy="212640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Frontend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260357" cy="3894598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1" y="1828800"/>
            <a:ext cx="37527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Frontend:</a:t>
            </a:r>
          </a:p>
          <a:p>
            <a:pPr marL="457200" marR="0" lvl="1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Keretrendszer: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-Angular 20-as verziót 	használunk.</a:t>
            </a:r>
          </a:p>
          <a:p>
            <a:pPr marL="457200" marR="0" lvl="1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-A felület komponens alapú.</a:t>
            </a:r>
          </a:p>
          <a:p>
            <a:pPr marL="457200" marR="0" lvl="1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Kommunikáció: 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-A backenddel REST API-n 	keresztül beszélünk. </a:t>
            </a:r>
          </a:p>
          <a:p>
            <a:pPr marL="457200" marR="0" lvl="1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Megjelenés: 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-Több vizuális effekt is be 	van építve.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-Mobilhoz letisztultabb.</a:t>
            </a:r>
          </a:p>
          <a:p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4C2511-A26F-42DC-A18C-645C87DCDF69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5.</a:t>
            </a:r>
          </a:p>
        </p:txBody>
      </p:sp>
    </p:spTree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1F5F9"/>
                </a:solidFill>
              </a:rPr>
              <a:t>Adatbázis</a:t>
            </a:r>
            <a:r>
              <a:rPr sz="2800" b="1" dirty="0">
                <a:solidFill>
                  <a:srgbClr val="F1F5F9"/>
                </a:solidFill>
              </a:rPr>
              <a:t> #1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1"/>
            <a:ext cx="7498079" cy="35848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1" y="1554480"/>
            <a:ext cx="640079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Fő táblák: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Products: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	 -A termékek alapadatai (név, kategória,típus). 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Properties: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	 -A termékekhez tartozó tulajdonságok 	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Values: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	 -A konkrét értékek, amelyek összekötik a productot a 			propertyvel (EAV modell).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Setup táblák: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	 - Setup-okat és eszközöket tartalmaz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User[Auth] / user_more[Auth]: 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</a:rPr>
              <a:t>		-A felhasználók adatai és kiegészítő profil adatok.</a:t>
            </a:r>
          </a:p>
          <a:p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292FB1-A66B-414E-8EF6-0F1694007577}"/>
              </a:ext>
            </a:extLst>
          </p:cNvPr>
          <p:cNvSpPr/>
          <p:nvPr/>
        </p:nvSpPr>
        <p:spPr>
          <a:xfrm>
            <a:off x="6986762" y="620485"/>
            <a:ext cx="1571274" cy="2116183"/>
          </a:xfrm>
          <a:prstGeom prst="roundRect">
            <a:avLst>
              <a:gd name="adj" fmla="val 9541"/>
            </a:avLst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0587DE-47D6-4B2F-B4B0-77D98E9890C1}"/>
              </a:ext>
            </a:extLst>
          </p:cNvPr>
          <p:cNvSpPr/>
          <p:nvPr/>
        </p:nvSpPr>
        <p:spPr>
          <a:xfrm>
            <a:off x="6986763" y="2909751"/>
            <a:ext cx="1571273" cy="1103812"/>
          </a:xfrm>
          <a:prstGeom prst="roundRect">
            <a:avLst>
              <a:gd name="adj" fmla="val 9541"/>
            </a:avLst>
          </a:prstGeom>
          <a:blipFill>
            <a:blip r:embed="rId3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BE6345-5941-44EC-9445-D7E8553312EC}"/>
              </a:ext>
            </a:extLst>
          </p:cNvPr>
          <p:cNvSpPr/>
          <p:nvPr/>
        </p:nvSpPr>
        <p:spPr>
          <a:xfrm>
            <a:off x="5286726" y="675799"/>
            <a:ext cx="1571273" cy="1263672"/>
          </a:xfrm>
          <a:prstGeom prst="roundRect">
            <a:avLst>
              <a:gd name="adj" fmla="val 9541"/>
            </a:avLst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5F750A-9035-4F6B-A164-AE04C9D2215C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6.</a:t>
            </a:r>
          </a:p>
        </p:txBody>
      </p:sp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B369AFE-B7C6-4F68-8F3C-4979DF68EAE7}"/>
              </a:ext>
            </a:extLst>
          </p:cNvPr>
          <p:cNvSpPr/>
          <p:nvPr/>
        </p:nvSpPr>
        <p:spPr>
          <a:xfrm>
            <a:off x="628509" y="570421"/>
            <a:ext cx="8153384" cy="5049329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CBB7AD-E44E-4A4E-ACF0-6BDE56255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701" y="2146027"/>
            <a:ext cx="2532790" cy="28464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6EAD9E0-7640-4449-B0FE-0BB9EFDE9ADA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2DB433-3365-4031-84AF-0B934ABEE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665" y="718457"/>
            <a:ext cx="3669591" cy="17069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B5EC1E-BA75-4777-AD1D-15AA1C51A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601" y="830430"/>
            <a:ext cx="2777108" cy="12446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343213-75BB-4573-B610-E570ADADB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739" y="2721499"/>
            <a:ext cx="5048070" cy="21154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A256D7-41C4-4522-B746-131370863DED}"/>
              </a:ext>
            </a:extLst>
          </p:cNvPr>
          <p:cNvSpPr txBox="1"/>
          <p:nvPr/>
        </p:nvSpPr>
        <p:spPr>
          <a:xfrm>
            <a:off x="458425" y="47201"/>
            <a:ext cx="50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Képek az adatbázis tábláiról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D1902-9E83-4329-AD95-423A7EA117A1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7.</a:t>
            </a:r>
          </a:p>
        </p:txBody>
      </p:sp>
    </p:spTree>
    <p:extLst>
      <p:ext uri="{BB962C8B-B14F-4D97-AF65-F5344CB8AC3E}">
        <p14:creationId xmlns:p14="http://schemas.microsoft.com/office/powerpoint/2010/main" val="101202373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Adatbázis #2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1" y="1645920"/>
            <a:ext cx="62483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Kapcsolatok:</a:t>
            </a:r>
          </a:p>
          <a:p>
            <a:pPr marL="457200" marR="0" lvl="1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-1 felhasználó → több setup (one-to-many). -1 setup → több eszköz (one-to-many). -1 product → több property a values táblán keresztül (EAV). -2 eszköz között kapcsolat a setup_connections táblában (gráf jellegű). -A portok és kábelek típusa egyezik (pl. HDMI csak HDMI-be megy).</a:t>
            </a:r>
          </a:p>
          <a:p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4E4694-55AA-4F9A-8DF7-3EF52278F528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8.</a:t>
            </a:r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357895-86CB-46C7-9F00-C248D95D3685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A4E49908-03E5-4E6D-8641-9B44D48F3702}"/>
              </a:ext>
            </a:extLst>
          </p:cNvPr>
          <p:cNvSpPr/>
          <p:nvPr/>
        </p:nvSpPr>
        <p:spPr>
          <a:xfrm>
            <a:off x="453467" y="892007"/>
            <a:ext cx="7498079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5C3B84-CE68-49AD-9F83-02E2192243A3}"/>
              </a:ext>
            </a:extLst>
          </p:cNvPr>
          <p:cNvSpPr txBox="1"/>
          <p:nvPr/>
        </p:nvSpPr>
        <p:spPr>
          <a:xfrm>
            <a:off x="453467" y="128762"/>
            <a:ext cx="18634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hu-HU" sz="2800" b="1" dirty="0">
                <a:solidFill>
                  <a:srgbClr val="F1F5F9"/>
                </a:solidFill>
              </a:rPr>
              <a:t>Tesztelések</a:t>
            </a:r>
            <a:endParaRPr sz="2800" b="1" dirty="0">
              <a:solidFill>
                <a:srgbClr val="F1F5F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956AA-DB74-4183-878B-E5B39EAD512C}"/>
              </a:ext>
            </a:extLst>
          </p:cNvPr>
          <p:cNvSpPr txBox="1"/>
          <p:nvPr/>
        </p:nvSpPr>
        <p:spPr>
          <a:xfrm>
            <a:off x="681135" y="976799"/>
            <a:ext cx="66713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i="0" dirty="0">
                <a:solidFill>
                  <a:schemeClr val="bg1"/>
                </a:solidFill>
                <a:effectLst/>
              </a:rPr>
              <a:t>1. Teszt típusok:</a:t>
            </a:r>
          </a:p>
          <a:p>
            <a:pPr algn="l"/>
            <a:r>
              <a:rPr lang="hu-HU" i="0" dirty="0">
                <a:solidFill>
                  <a:schemeClr val="bg1"/>
                </a:solidFill>
                <a:effectLst/>
              </a:rPr>
              <a:t>Manuális teszt </a:t>
            </a:r>
          </a:p>
          <a:p>
            <a:pPr algn="l"/>
            <a:r>
              <a:rPr lang="hu-HU" dirty="0">
                <a:solidFill>
                  <a:schemeClr val="bg1"/>
                </a:solidFill>
              </a:rPr>
              <a:t>	</a:t>
            </a:r>
            <a:r>
              <a:rPr lang="hu-HU" i="0" dirty="0">
                <a:solidFill>
                  <a:schemeClr val="bg1"/>
                </a:solidFill>
                <a:effectLst/>
              </a:rPr>
              <a:t>-Minden funkciót többször végigpróbáltunk a felhasználói 	működés szempontjából. </a:t>
            </a:r>
          </a:p>
          <a:p>
            <a:pPr algn="l"/>
            <a:r>
              <a:rPr lang="hu-HU" i="0" dirty="0">
                <a:solidFill>
                  <a:schemeClr val="bg1"/>
                </a:solidFill>
                <a:effectLst/>
              </a:rPr>
              <a:t>Egységteszt </a:t>
            </a:r>
          </a:p>
          <a:p>
            <a:pPr algn="l"/>
            <a:r>
              <a:rPr lang="hu-HU" dirty="0">
                <a:solidFill>
                  <a:schemeClr val="bg1"/>
                </a:solidFill>
              </a:rPr>
              <a:t>	</a:t>
            </a:r>
            <a:r>
              <a:rPr lang="hu-HU" i="0" dirty="0">
                <a:solidFill>
                  <a:schemeClr val="bg1"/>
                </a:solidFill>
                <a:effectLst/>
              </a:rPr>
              <a:t>-Külön ellenőriztük a fő funkciókat.</a:t>
            </a:r>
          </a:p>
          <a:p>
            <a:pPr algn="l"/>
            <a:r>
              <a:rPr lang="hu-HU" i="0" dirty="0">
                <a:solidFill>
                  <a:schemeClr val="bg1"/>
                </a:solidFill>
                <a:effectLst/>
              </a:rPr>
              <a:t>Integrációs teszt </a:t>
            </a:r>
          </a:p>
          <a:p>
            <a:pPr algn="l"/>
            <a:r>
              <a:rPr lang="hu-HU" dirty="0">
                <a:solidFill>
                  <a:schemeClr val="bg1"/>
                </a:solidFill>
              </a:rPr>
              <a:t>	</a:t>
            </a:r>
            <a:r>
              <a:rPr lang="hu-HU" i="0" dirty="0">
                <a:solidFill>
                  <a:schemeClr val="bg1"/>
                </a:solidFill>
                <a:effectLst/>
              </a:rPr>
              <a:t>-A nagyobb komponensek működését</a:t>
            </a:r>
          </a:p>
          <a:p>
            <a:pPr algn="l"/>
            <a:r>
              <a:rPr lang="hu-HU" i="0" dirty="0">
                <a:solidFill>
                  <a:schemeClr val="bg1"/>
                </a:solidFill>
                <a:effectLst/>
              </a:rPr>
              <a:t>Böngésző teszt </a:t>
            </a:r>
          </a:p>
          <a:p>
            <a:pPr algn="l"/>
            <a:r>
              <a:rPr lang="hu-HU" dirty="0">
                <a:solidFill>
                  <a:schemeClr val="bg1"/>
                </a:solidFill>
              </a:rPr>
              <a:t>	</a:t>
            </a:r>
            <a:r>
              <a:rPr lang="hu-HU" i="0" dirty="0">
                <a:solidFill>
                  <a:schemeClr val="bg1"/>
                </a:solidFill>
                <a:effectLst/>
              </a:rPr>
              <a:t>-Google Chrome és Microsoft Edge alatt is kipróbáltuk.</a:t>
            </a:r>
          </a:p>
          <a:p>
            <a:pPr algn="l"/>
            <a:r>
              <a:rPr lang="hu-HU" i="0" dirty="0">
                <a:solidFill>
                  <a:schemeClr val="bg1"/>
                </a:solidFill>
                <a:effectLst/>
              </a:rPr>
              <a:t>Teljesítmény teszt </a:t>
            </a:r>
          </a:p>
          <a:p>
            <a:pPr algn="l"/>
            <a:r>
              <a:rPr lang="hu-HU" dirty="0">
                <a:solidFill>
                  <a:schemeClr val="bg1"/>
                </a:solidFill>
              </a:rPr>
              <a:t>	</a:t>
            </a:r>
            <a:r>
              <a:rPr lang="hu-HU" i="0" dirty="0">
                <a:solidFill>
                  <a:schemeClr val="bg1"/>
                </a:solidFill>
                <a:effectLst/>
              </a:rPr>
              <a:t>-1502 termék betöltését vizsgáltuk, lapozással stabil maradt.</a:t>
            </a:r>
          </a:p>
          <a:p>
            <a:endParaRPr lang="hu-HU" sz="1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2F05F-48A3-43D6-854D-AF22D60C572D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11.</a:t>
            </a:r>
          </a:p>
        </p:txBody>
      </p:sp>
    </p:spTree>
    <p:extLst>
      <p:ext uri="{BB962C8B-B14F-4D97-AF65-F5344CB8AC3E}">
        <p14:creationId xmlns:p14="http://schemas.microsoft.com/office/powerpoint/2010/main" val="4100144875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829B83-ECD1-4E5F-86DF-E12F5F41EF68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F80671CF-2C26-4C21-A281-2606061CB215}"/>
              </a:ext>
            </a:extLst>
          </p:cNvPr>
          <p:cNvSpPr/>
          <p:nvPr/>
        </p:nvSpPr>
        <p:spPr>
          <a:xfrm>
            <a:off x="453467" y="892007"/>
            <a:ext cx="7498079" cy="405511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94F39-CF5D-489D-98DC-403C9DFF1B19}"/>
              </a:ext>
            </a:extLst>
          </p:cNvPr>
          <p:cNvSpPr txBox="1"/>
          <p:nvPr/>
        </p:nvSpPr>
        <p:spPr>
          <a:xfrm>
            <a:off x="453467" y="128762"/>
            <a:ext cx="191475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hu-HU" sz="2800" b="1" dirty="0">
                <a:solidFill>
                  <a:srgbClr val="F1F5F9"/>
                </a:solidFill>
              </a:rPr>
              <a:t>Lefedettség</a:t>
            </a:r>
            <a:endParaRPr sz="2800" b="1" dirty="0">
              <a:solidFill>
                <a:srgbClr val="F1F5F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E24D2-CBF9-4309-BAAA-AF59BD4C6075}"/>
              </a:ext>
            </a:extLst>
          </p:cNvPr>
          <p:cNvSpPr txBox="1"/>
          <p:nvPr/>
        </p:nvSpPr>
        <p:spPr>
          <a:xfrm>
            <a:off x="681135" y="976799"/>
            <a:ext cx="66713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hu-HU" i="0" dirty="0">
                <a:solidFill>
                  <a:srgbClr val="D8D8D8"/>
                </a:solidFill>
                <a:effectLst/>
              </a:rPr>
              <a:t>2. Lefedettség:</a:t>
            </a:r>
          </a:p>
          <a:p>
            <a:pPr algn="l"/>
            <a:r>
              <a:rPr lang="hu-HU" i="0" dirty="0">
                <a:solidFill>
                  <a:srgbClr val="D8D8D8"/>
                </a:solidFill>
                <a:effectLst/>
              </a:rPr>
              <a:t>Frontend</a:t>
            </a:r>
          </a:p>
          <a:p>
            <a:pPr algn="l"/>
            <a:r>
              <a:rPr lang="hu-HU" dirty="0">
                <a:solidFill>
                  <a:srgbClr val="D8D8D8"/>
                </a:solidFill>
              </a:rPr>
              <a:t>	</a:t>
            </a:r>
            <a:r>
              <a:rPr lang="hu-HU" i="0" dirty="0">
                <a:solidFill>
                  <a:srgbClr val="D8D8D8"/>
                </a:solidFill>
                <a:effectLst/>
              </a:rPr>
              <a:t> -Terméklista, keresés, szűrés, lapozás, oldalsó panel, Spotlight, 	rangrendszer, dock menü, MySetup workspace.</a:t>
            </a:r>
          </a:p>
          <a:p>
            <a:pPr algn="l"/>
            <a:r>
              <a:rPr lang="hu-HU" i="0" dirty="0">
                <a:solidFill>
                  <a:srgbClr val="D8D8D8"/>
                </a:solidFill>
                <a:effectLst/>
              </a:rPr>
              <a:t>Backend </a:t>
            </a:r>
          </a:p>
          <a:p>
            <a:pPr algn="l"/>
            <a:r>
              <a:rPr lang="hu-HU" dirty="0">
                <a:solidFill>
                  <a:srgbClr val="D8D8D8"/>
                </a:solidFill>
              </a:rPr>
              <a:t>	</a:t>
            </a:r>
            <a:r>
              <a:rPr lang="hu-HU" i="0" dirty="0">
                <a:solidFill>
                  <a:srgbClr val="D8D8D8"/>
                </a:solidFill>
                <a:effectLst/>
              </a:rPr>
              <a:t>-Auth végpontok, jogosultság ellenőrzés, setup CRUD, termék 	lekérdezések, AI hívás.</a:t>
            </a:r>
          </a:p>
          <a:p>
            <a:pPr algn="l"/>
            <a:r>
              <a:rPr lang="hu-HU" i="0" dirty="0">
                <a:solidFill>
                  <a:srgbClr val="D8D8D8"/>
                </a:solidFill>
                <a:effectLst/>
              </a:rPr>
              <a:t>Adatbázis </a:t>
            </a:r>
          </a:p>
          <a:p>
            <a:pPr algn="l"/>
            <a:r>
              <a:rPr lang="hu-HU" dirty="0">
                <a:solidFill>
                  <a:srgbClr val="D8D8D8"/>
                </a:solidFill>
              </a:rPr>
              <a:t>	</a:t>
            </a:r>
            <a:r>
              <a:rPr lang="hu-HU" i="0" dirty="0">
                <a:solidFill>
                  <a:srgbClr val="D8D8D8"/>
                </a:solidFill>
                <a:effectLst/>
              </a:rPr>
              <a:t>-Termékbetöltés, szűrési kombinációk, hibás/üres adatok 	kezelése.</a:t>
            </a:r>
          </a:p>
          <a:p>
            <a:pPr algn="l"/>
            <a:r>
              <a:rPr lang="hu-HU" i="0" dirty="0">
                <a:solidFill>
                  <a:srgbClr val="D8D8D8"/>
                </a:solidFill>
                <a:effectLst/>
              </a:rPr>
              <a:t>Hiányosságok </a:t>
            </a:r>
          </a:p>
          <a:p>
            <a:pPr algn="l"/>
            <a:r>
              <a:rPr lang="hu-HU" dirty="0">
                <a:solidFill>
                  <a:srgbClr val="D8D8D8"/>
                </a:solidFill>
              </a:rPr>
              <a:t>	</a:t>
            </a:r>
            <a:r>
              <a:rPr lang="hu-HU" i="0" dirty="0">
                <a:solidFill>
                  <a:srgbClr val="D8D8D8"/>
                </a:solidFill>
                <a:effectLst/>
              </a:rPr>
              <a:t>-Néhány terméknél hiányzik az ár vagy kép (szerzői jog miatt). </a:t>
            </a:r>
          </a:p>
          <a:p>
            <a:pPr algn="l"/>
            <a:r>
              <a:rPr lang="hu-HU" dirty="0">
                <a:solidFill>
                  <a:srgbClr val="D8D8D8"/>
                </a:solidFill>
              </a:rPr>
              <a:t>	</a:t>
            </a:r>
            <a:r>
              <a:rPr lang="hu-HU" i="0" dirty="0">
                <a:solidFill>
                  <a:srgbClr val="D8D8D8"/>
                </a:solidFill>
                <a:effectLst/>
              </a:rPr>
              <a:t>-A keresés és szűrés egyes esetekben „közepes” eredményt 	adott.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8C6F1-1F19-4DB0-80B6-B791949A9947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12.</a:t>
            </a:r>
          </a:p>
        </p:txBody>
      </p:sp>
    </p:spTree>
    <p:extLst>
      <p:ext uri="{BB962C8B-B14F-4D97-AF65-F5344CB8AC3E}">
        <p14:creationId xmlns:p14="http://schemas.microsoft.com/office/powerpoint/2010/main" val="3865099445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Felmerült problémák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1" y="1706999"/>
            <a:ext cx="5386026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AI: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 -Pontatlan válaszok, hallucinált árak. 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 -Nem ismerte a felhasználó setupjait.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 -Token korlát miatt nem fért be az összes adat.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Adatbázis: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 -Túl sok külön tábla, átláthatatlan lett.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Képek: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 -1502+ termékhez kézzel képet keresni lehetetlen.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Teljesítmény: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 -Sok termék egyszerre akadozott.</a:t>
            </a:r>
          </a:p>
          <a:p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23B7F3-E4EF-459D-9EED-FF0A1C25F626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9.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8FFCC1-933E-4062-A2B7-EC754DA4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041" y="1143000"/>
            <a:ext cx="2508184" cy="53035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 err="1">
                <a:solidFill>
                  <a:srgbClr val="F1F5F9"/>
                </a:solidFill>
              </a:rPr>
              <a:t>Megoldások</a:t>
            </a:r>
            <a:endParaRPr sz="2800" b="1" dirty="0">
              <a:solidFill>
                <a:srgbClr val="F1F5F9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1" y="1685925"/>
            <a:ext cx="4416594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AI: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-Célzott prompt, csak a releváns adatok. 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-Setup alapú válaszok.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Adatbázis: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-EAV modellre váltás.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Képek: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-Saját Bing scraping script.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Teljesítmény: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-Lapozás (50 termék/oldal).</a:t>
            </a:r>
          </a:p>
          <a:p>
            <a:endParaRPr lang="hu-HU"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pic>
        <p:nvPicPr>
          <p:cNvPr id="1026" name="Picture 2" descr="Entity-Attribute-Value (EAV) Model - DEV Community">
            <a:extLst>
              <a:ext uri="{FF2B5EF4-FFF2-40B4-BE49-F238E27FC236}">
                <a16:creationId xmlns:a16="http://schemas.microsoft.com/office/drawing/2014/main" id="{590194E7-C6E5-4E68-82E0-4569C2FAC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960" y="4501638"/>
            <a:ext cx="3425562" cy="216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4006C1-5ED5-40BD-890E-F6A9D47770AE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10.</a:t>
            </a:r>
          </a:p>
        </p:txBody>
      </p:sp>
    </p:spTree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6B8B2D-C201-45F7-B2A1-1F5E138DD921}"/>
              </a:ext>
            </a:extLst>
          </p:cNvPr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25E665-B9C8-42DA-AB15-BCA14136B96F}"/>
              </a:ext>
            </a:extLst>
          </p:cNvPr>
          <p:cNvSpPr txBox="1"/>
          <p:nvPr/>
        </p:nvSpPr>
        <p:spPr>
          <a:xfrm>
            <a:off x="391886" y="139959"/>
            <a:ext cx="3368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b="1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1FC94B2-4330-421F-8B3A-EEB7D5EB5841}"/>
              </a:ext>
            </a:extLst>
          </p:cNvPr>
          <p:cNvSpPr/>
          <p:nvPr/>
        </p:nvSpPr>
        <p:spPr>
          <a:xfrm>
            <a:off x="470263" y="761378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D0ABA5-2E88-4C02-877B-451B5EB1B97A}"/>
              </a:ext>
            </a:extLst>
          </p:cNvPr>
          <p:cNvSpPr txBox="1"/>
          <p:nvPr/>
        </p:nvSpPr>
        <p:spPr>
          <a:xfrm>
            <a:off x="2274314" y="883492"/>
            <a:ext cx="388997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A projekt élőben bemutatása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F9690-88C4-4E9D-A8FE-26793C804FCF}"/>
              </a:ext>
            </a:extLst>
          </p:cNvPr>
          <p:cNvSpPr txBox="1"/>
          <p:nvPr/>
        </p:nvSpPr>
        <p:spPr>
          <a:xfrm>
            <a:off x="2274314" y="2459218"/>
            <a:ext cx="39882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Mik a legfontosabb funkciók 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CD7E81-FEEF-4A1C-A6C9-C840FDA189C7}"/>
              </a:ext>
            </a:extLst>
          </p:cNvPr>
          <p:cNvSpPr txBox="1"/>
          <p:nvPr/>
        </p:nvSpPr>
        <p:spPr>
          <a:xfrm>
            <a:off x="4128796" y="1546407"/>
            <a:ext cx="279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1F0610-1299-4D90-B1E8-A768215B53CB}"/>
              </a:ext>
            </a:extLst>
          </p:cNvPr>
          <p:cNvSpPr txBox="1"/>
          <p:nvPr/>
        </p:nvSpPr>
        <p:spPr>
          <a:xfrm>
            <a:off x="4128796" y="2903204"/>
            <a:ext cx="2792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1BC8E3-31AD-4FAD-A5B3-A26F55EEA487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13.</a:t>
            </a:r>
          </a:p>
        </p:txBody>
      </p:sp>
    </p:spTree>
    <p:extLst>
      <p:ext uri="{BB962C8B-B14F-4D97-AF65-F5344CB8AC3E}">
        <p14:creationId xmlns:p14="http://schemas.microsoft.com/office/powerpoint/2010/main" val="3080261795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Továbbfejlesztések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23072"/>
            <a:ext cx="5474576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Ötleteink: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 Milyen távlatba gondolkodtunk ezzel a projekttel ?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 Mi lett volna az eredeti cél ?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	- Miért nem értük el ?</a:t>
            </a:r>
          </a:p>
          <a:p>
            <a:endParaRPr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108F2-7FD0-4E37-8997-A905415FDC55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14.</a:t>
            </a: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1F5F9"/>
                </a:solidFill>
              </a:rPr>
              <a:t>Összegzés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7498079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410182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 Hogyan érezzük ?</a:t>
            </a:r>
            <a:b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</a:b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 Túl nagy fába vágtuk a fejszénket ?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hu-HU" sz="1800" b="0" i="0" u="none" strike="noStrike" kern="1200" cap="none" spc="0" baseline="0" dirty="0">
                <a:solidFill>
                  <a:schemeClr val="bg1"/>
                </a:solidFill>
                <a:uFillTx/>
                <a:cs typeface="Times New Roman" pitchFamily="18"/>
              </a:rPr>
              <a:t>- Mennyire szerettük csinálni ezt a projektet ?</a:t>
            </a:r>
          </a:p>
          <a:p>
            <a:endParaRPr lang="hu-HU" sz="18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C497C-EAE2-4CB3-8377-38159B8B89A4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15.</a:t>
            </a:r>
          </a:p>
        </p:txBody>
      </p:sp>
    </p:spTree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85775" y="1554480"/>
            <a:ext cx="8505825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5127" y="2905780"/>
            <a:ext cx="362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 err="1">
                <a:solidFill>
                  <a:srgbClr val="F1F5F9"/>
                </a:solidFill>
              </a:rPr>
              <a:t>Köszönjük</a:t>
            </a:r>
            <a:r>
              <a:rPr sz="2800" b="1" dirty="0">
                <a:solidFill>
                  <a:srgbClr val="F1F5F9"/>
                </a:solidFill>
              </a:rPr>
              <a:t> a </a:t>
            </a:r>
            <a:r>
              <a:rPr sz="2800" b="1" dirty="0" err="1">
                <a:solidFill>
                  <a:srgbClr val="F1F5F9"/>
                </a:solidFill>
              </a:rPr>
              <a:t>figyelmet</a:t>
            </a:r>
            <a:r>
              <a:rPr sz="2800" b="1" dirty="0">
                <a:solidFill>
                  <a:srgbClr val="F1F5F9"/>
                </a:solidFill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4A3B8"/>
                </a:solidFill>
              </a:rPr>
              <a:t>SETUP Configurator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7B47FF-2D59-4D70-9DFC-5BE7B62CC9B9}"/>
              </a:ext>
            </a:extLst>
          </p:cNvPr>
          <p:cNvSpPr txBox="1"/>
          <p:nvPr/>
        </p:nvSpPr>
        <p:spPr>
          <a:xfrm>
            <a:off x="8817428" y="6548223"/>
            <a:ext cx="8024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050" dirty="0">
                <a:solidFill>
                  <a:schemeClr val="bg1">
                    <a:lumMod val="65000"/>
                  </a:schemeClr>
                </a:solidFill>
              </a:rPr>
              <a:t>16.</a:t>
            </a: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862</Words>
  <Application>Microsoft Office PowerPoint</Application>
  <PresentationFormat>On-screen Show (4:3)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Levente</dc:creator>
  <cp:keywords/>
  <dc:description>generated using python-pptx</dc:description>
  <cp:lastModifiedBy>Levente Hazafi</cp:lastModifiedBy>
  <cp:revision>13</cp:revision>
  <dcterms:created xsi:type="dcterms:W3CDTF">2013-01-27T09:14:16Z</dcterms:created>
  <dcterms:modified xsi:type="dcterms:W3CDTF">2026-05-08T11:36:16Z</dcterms:modified>
  <cp:category/>
</cp:coreProperties>
</file>